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Ask Syracuse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 Natural Language Interface for Syracuse 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Ask questions in plain English. Get data-driven answers with</a:t>
            </a:r>
            <a:br/>
            <a:r>
              <a:t>interactive charts, maps, validation, and bias warnings.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Prathyusha  |  Syracuse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Syracuse publishes 16+ datasets on data.syr.gov - but who actually uses them?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Data is locked behind CSV downloads, API endpoints, and technical jargon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Residents, journalists, and community orgs lack SQL/Python skills to query it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No easy way to ask: "How many violations in my ZIP code?" or "Is crime going up?"</a:t>
            </a:r>
          </a:p>
          <a:p>
            <a:pPr>
              <a:defRPr sz="1000">
                <a:solidFill>
                  <a:srgbClr val="CCCCCC"/>
                </a:solidFill>
              </a:defRPr>
            </a:pPr>
          </a:p>
          <a:p>
            <a:pPr>
              <a:defRPr sz="2000" b="1">
                <a:solidFill>
                  <a:srgbClr val="FF6B35"/>
                </a:solidFill>
              </a:defRPr>
            </a:pPr>
            <a:r>
              <a:t>The gap: valuable public data exists, but the people who need it most can't access it</a:t>
            </a:r>
          </a:p>
          <a:p>
            <a:pPr>
              <a:defRPr sz="10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00C97B"/>
                </a:solidFill>
              </a:defRPr>
            </a:pPr>
            <a:r>
              <a:t>Goal: Let anyone ask questions about Syracuse in plain English and get trustworthy,</a:t>
            </a:r>
          </a:p>
          <a:p>
            <a:pPr>
              <a:defRPr sz="1800">
                <a:solidFill>
                  <a:srgbClr val="00C97B"/>
                </a:solidFill>
              </a:defRPr>
            </a:pPr>
            <a:r>
              <a:t>validated answers - with charts, maps, and honest warnings about what the data can't tell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Why Syracuse Should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</a:defRPr>
            </a:pPr>
            <a:r>
              <a:t>For Residents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"How many code violations in 13205?"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"What's the most common crime in Westcott?"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"When is my trash pickup day?"</a:t>
            </a:r>
          </a:p>
          <a:p>
            <a:pPr>
              <a:defRPr sz="800">
                <a:solidFill>
                  <a:srgbClr val="CCCCCC"/>
                </a:solidFill>
              </a:defRPr>
            </a:pPr>
          </a:p>
          <a:p>
            <a:pPr>
              <a:defRPr sz="2200" b="1">
                <a:solidFill>
                  <a:srgbClr val="00C97B"/>
                </a:solidFill>
              </a:defRPr>
            </a:pPr>
            <a:r>
              <a:t>For City Officials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Quick answers without waiting for analyst reports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Cross-dataset insights (violations + rentals + vacancies)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Built-in bias warnings prevent misinterpretation</a:t>
            </a:r>
          </a:p>
          <a:p>
            <a:pPr>
              <a:defRPr sz="800">
                <a:solidFill>
                  <a:srgbClr val="CCCCCC"/>
                </a:solidFill>
              </a:defRPr>
            </a:pPr>
          </a:p>
          <a:p>
            <a:pPr>
              <a:defRPr sz="2200" b="1">
                <a:solidFill>
                  <a:srgbClr val="00C97B"/>
                </a:solidFill>
              </a:defRPr>
            </a:pPr>
            <a:r>
              <a:t>For Community Orgs &amp; Journalists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Self-serve data exploration, no coding required</a:t>
            </a:r>
          </a:p>
          <a:p>
            <a:pPr>
              <a:defRPr sz="1700">
                <a:solidFill>
                  <a:srgbClr val="CCCCCC"/>
                </a:solidFill>
              </a:defRPr>
            </a:pPr>
            <a:r>
              <a:t>Source citations and methodology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16 Datasets Covered</a:t>
            </a:r>
          </a:p>
          <a:p>
            <a:pPr>
              <a:defRPr sz="1600" b="1">
                <a:solidFill>
                  <a:srgbClr val="00D2FF"/>
                </a:solidFill>
              </a:defRPr>
            </a:pPr>
            <a:r>
              <a:t>Housing &amp; Property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Code Violations (138K)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Vacant Properties (1.7K)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Rental Registry (13K)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Assessment Roll (41K)</a:t>
            </a:r>
          </a:p>
          <a:p>
            <a:pPr>
              <a:defRPr sz="1600" b="1">
                <a:solidFill>
                  <a:srgbClr val="00D2FF"/>
                </a:solidFill>
              </a:defRPr>
            </a:pPr>
            <a:r>
              <a:t>Public Safety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Crime 2022-2025 (32.8K)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Parking Violations (197K)</a:t>
            </a:r>
          </a:p>
          <a:p>
            <a:pPr>
              <a:defRPr sz="1600" b="1">
                <a:solidFill>
                  <a:srgbClr val="00D2FF"/>
                </a:solidFill>
              </a:defRPr>
            </a:pPr>
            <a:r>
              <a:t>City Services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311 Requests (116K)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Trash Pickup, Permits</a:t>
            </a:r>
          </a:p>
          <a:p>
            <a:pPr>
              <a:defRPr sz="1600" b="1">
                <a:solidFill>
                  <a:srgbClr val="00D2FF"/>
                </a:solidFill>
              </a:defRPr>
            </a:pPr>
            <a:r>
              <a:t>Infrastructure &amp; Health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Bike lanes, Snow routes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Tree inventory (55K)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Lead testing (2013-2024)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The Approach: Hybrid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User asks a question in plain English</a:t>
            </a:r>
          </a:p>
          <a:p>
            <a:pPr>
              <a:defRPr sz="6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Step 1: Intent Parsing - GPT-4o-mini (or offline heuristic) converts question to structured JSON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Step 2: Complexity Triage - routes simple vs complex queries to different paths</a:t>
            </a:r>
          </a:p>
          <a:p>
            <a:pPr>
              <a:defRPr sz="600">
                <a:solidFill>
                  <a:srgbClr val="CCCCCC"/>
                </a:solidFill>
              </a:defRPr>
            </a:pPr>
          </a:p>
          <a:p>
            <a:pPr>
              <a:defRPr sz="2000" b="1">
                <a:solidFill>
                  <a:srgbClr val="00C97B"/>
                </a:solidFill>
              </a:defRPr>
            </a:pPr>
            <a:r>
              <a:t>Path 1 (Simple/Medium) - Deterministic</a:t>
            </a:r>
          </a:p>
          <a:p>
            <a:pPr lvl="1">
              <a:defRPr sz="1600">
                <a:solidFill>
                  <a:srgbClr val="CCCCCC"/>
                </a:solidFill>
              </a:defRPr>
            </a:pPr>
            <a:r>
              <a:t>Intent JSON → Schema Validation → SQL Builder → DuckDB</a:t>
            </a:r>
          </a:p>
          <a:p>
            <a:pPr lvl="1">
              <a:defRPr sz="1600">
                <a:solidFill>
                  <a:srgbClr val="CCCCCC"/>
                </a:solidFill>
              </a:defRPr>
            </a:pPr>
            <a:r>
              <a:t>Counts, averages, GROUP BY, HAVING, cross-dataset joins</a:t>
            </a:r>
          </a:p>
          <a:p>
            <a:pPr lvl="1">
              <a:defRPr sz="1600">
                <a:solidFill>
                  <a:srgbClr val="CCCCCC"/>
                </a:solidFill>
              </a:defRPr>
            </a:pPr>
            <a:r>
              <a:t>Fully testable, no hallucination risk, works offline</a:t>
            </a:r>
          </a:p>
          <a:p>
            <a:pPr>
              <a:defRPr sz="600">
                <a:solidFill>
                  <a:srgbClr val="CCCCCC"/>
                </a:solidFill>
              </a:defRPr>
            </a:pPr>
          </a:p>
          <a:p>
            <a:pPr>
              <a:defRPr sz="2000" b="1">
                <a:solidFill>
                  <a:srgbClr val="FF6B35"/>
                </a:solidFill>
              </a:defRPr>
            </a:pPr>
            <a:r>
              <a:t>Path 2 (Complex) - LLM SQL with Guardrails</a:t>
            </a:r>
          </a:p>
          <a:p>
            <a:pPr lvl="1">
              <a:defRPr sz="1600">
                <a:solidFill>
                  <a:srgbClr val="CCCCCC"/>
                </a:solidFill>
              </a:defRPr>
            </a:pPr>
            <a:r>
              <a:t>LLM generates full SQL → SQL Validator (read-only, table allowlist, LIMIT 1000) → DuckDB</a:t>
            </a:r>
          </a:p>
          <a:p>
            <a:pPr lvl="1">
              <a:defRPr sz="1600">
                <a:solidFill>
                  <a:srgbClr val="CCCCCC"/>
                </a:solidFill>
              </a:defRPr>
            </a:pPr>
            <a:r>
              <a:t>Rankings, percentiles, window functions, year-over-year</a:t>
            </a:r>
          </a:p>
          <a:p>
            <a:pPr>
              <a:defRPr sz="600">
                <a:solidFill>
                  <a:srgbClr val="CCCCCC"/>
                </a:solidFill>
              </a:defRPr>
            </a:pPr>
          </a:p>
          <a:p>
            <a:pPr>
              <a:defRPr sz="1800" b="1">
                <a:solidFill>
                  <a:srgbClr val="00D2FF"/>
                </a:solidFill>
              </a:defRPr>
            </a:pPr>
            <a:r>
              <a:t>Key insight: The LLM never touches raw data. It only translates language →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Trust Layer: Validation &amp; Bias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</a:defRPr>
            </a:pPr>
            <a:r>
              <a:t>Ground-Truth Validation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Every query result compared against independent pandas calculation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Count, grouped count, and join validations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Discrepancies &gt;5% flagged as errors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Sanity checks: outliers, null groups, suspicious counts</a:t>
            </a:r>
          </a:p>
          <a:p>
            <a:pPr>
              <a:defRPr sz="800">
                <a:solidFill>
                  <a:srgbClr val="CCCCCC"/>
                </a:solidFill>
              </a:defRPr>
            </a:pPr>
          </a:p>
          <a:p>
            <a:pPr>
              <a:defRPr sz="2200" b="1">
                <a:solidFill>
                  <a:srgbClr val="00C97B"/>
                </a:solidFill>
              </a:defRPr>
            </a:pPr>
            <a:r>
              <a:t>SQL Safety Guardrails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Read-only enforcement (no INSERT/UPDATE/DELETE)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Table allowlist (only 16 known tables)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LIMIT 1000 cap on all queries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30-second execution timeout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Input validation, rate limiting, XSS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Bias Detection (5 types)</a:t>
            </a:r>
          </a:p>
          <a:p>
            <a:pPr>
              <a:defRPr sz="1700" b="1">
                <a:solidFill>
                  <a:srgbClr val="00D2FF"/>
                </a:solidFill>
              </a:defRPr>
            </a:pPr>
            <a:r>
              <a:t>Framing Bias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Warns about leading language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("most dangerous", "worst")</a:t>
            </a:r>
          </a:p>
          <a:p>
            <a:pPr>
              <a:defRPr sz="1700" b="1">
                <a:solidFill>
                  <a:srgbClr val="00D2FF"/>
                </a:solidFill>
              </a:defRPr>
            </a:pPr>
            <a:r>
              <a:t>Normalization Bias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Raw counts need population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context for fair comparison</a:t>
            </a:r>
          </a:p>
          <a:p>
            <a:pPr>
              <a:defRPr sz="1700" b="1">
                <a:solidFill>
                  <a:srgbClr val="00D2FF"/>
                </a:solidFill>
              </a:defRPr>
            </a:pPr>
            <a:r>
              <a:t>Selection Bias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Data collection patterns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(reported crimes ≠ all crimes)</a:t>
            </a:r>
          </a:p>
          <a:p>
            <a:pPr>
              <a:defRPr sz="1700" b="1">
                <a:solidFill>
                  <a:srgbClr val="00D2FF"/>
                </a:solidFill>
              </a:defRPr>
            </a:pPr>
            <a:r>
              <a:t>Context Bias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Missing analytical context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(enforcement ≠ actual conditions)</a:t>
            </a:r>
          </a:p>
          <a:p>
            <a:pPr>
              <a:defRPr sz="1700" b="1">
                <a:solidFill>
                  <a:srgbClr val="00D2FF"/>
                </a:solidFill>
              </a:defRPr>
            </a:pPr>
            <a:r>
              <a:t>Uncertainty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Partial data, geocoding failures</a:t>
            </a:r>
          </a:p>
          <a:p>
            <a:pPr lvl="1">
              <a:defRPr sz="1400">
                <a:solidFill>
                  <a:srgbClr val="CCCCCC"/>
                </a:solidFill>
              </a:defRPr>
            </a:pPr>
            <a:r>
              <a:t>(17% Unknown neighborhoods)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The Findings: What You Can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</a:defRPr>
            </a:pPr>
            <a:r>
              <a:t>Example Queries &amp; Results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"How many code violations by neighborhood?" → bar chart + bubble map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"Crime by year" → line chart showing 2022-2024 trends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"Average parking fine by type" → ranked bar chart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"Rental properties with violations by ZIP" → cross-dataset join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"Neighborhoods with more than 100 violations" → filtered results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"Lead testing by census tract" → public health breakdown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"Most common tree species" → species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Interactive Features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Tabbed results: Data, Charts, Insights, SQL, Validation, Sources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Auto-generated Plotly charts (bar, line, grouped bar)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Maps: neighborhood bubble, ZIP bubble, point, route lines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Density heatmaps for geographic data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AI-generated insights explaining what the data means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User feedback (thumbs up/down) stored in SQLite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t>Dataset explorer with all 16 datasets on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LIVE DEMO: http://127.0.0.1:8000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</a:defRPr>
            </a:pPr>
            <a:r>
              <a:t>4 Test Suites - 153 Total Tests</a:t>
            </a:r>
          </a:p>
          <a:p>
            <a:pPr>
              <a:defRPr sz="600">
                <a:solidFill>
                  <a:srgbClr val="CCCCCC"/>
                </a:solidFill>
              </a:defRPr>
            </a:pPr>
          </a:p>
          <a:p>
            <a:pPr>
              <a:defRPr sz="1800" b="1">
                <a:solidFill>
                  <a:srgbClr val="00D2FF"/>
                </a:solidFill>
              </a:defRPr>
            </a:pPr>
            <a:r>
              <a:t>Pipeline (pytest): 73 tests</a:t>
            </a:r>
          </a:p>
          <a:p>
            <a:pPr lvl="1">
              <a:defRPr sz="1500">
                <a:solidFill>
                  <a:srgbClr val="CCCCCC"/>
                </a:solidFill>
              </a:defRPr>
            </a:pPr>
            <a:r>
              <a:t>Intent parsing, metrics, temporal, HAVING, filters, joins, error handling, SQL validation, schema, ground truth, all datasets</a:t>
            </a:r>
          </a:p>
          <a:p>
            <a:pPr lvl="1">
              <a:defRPr sz="400">
                <a:solidFill>
                  <a:srgbClr val="CCCCCC"/>
                </a:solidFill>
              </a:defRPr>
            </a:pPr>
          </a:p>
          <a:p>
            <a:pPr>
              <a:defRPr sz="1800" b="1">
                <a:solidFill>
                  <a:srgbClr val="00D2FF"/>
                </a:solidFill>
              </a:defRPr>
            </a:pPr>
            <a:r>
              <a:t>Benchmarks: 13 tests</a:t>
            </a:r>
          </a:p>
          <a:p>
            <a:pPr lvl="1">
              <a:defRPr sz="1500">
                <a:solidFill>
                  <a:srgbClr val="CCCCCC"/>
                </a:solidFill>
              </a:defRPr>
            </a:pPr>
            <a:r>
              <a:t>End-to-end query evaluation, no LLM needed (heuristic mode)</a:t>
            </a:r>
          </a:p>
          <a:p>
            <a:pPr lvl="1">
              <a:defRPr sz="400">
                <a:solidFill>
                  <a:srgbClr val="CCCCCC"/>
                </a:solidFill>
              </a:defRPr>
            </a:pPr>
          </a:p>
          <a:p>
            <a:pPr>
              <a:defRPr sz="1800" b="1">
                <a:solidFill>
                  <a:srgbClr val="00D2FF"/>
                </a:solidFill>
              </a:defRPr>
            </a:pPr>
            <a:r>
              <a:t>Comprehensive: 30 tests</a:t>
            </a:r>
          </a:p>
          <a:p>
            <a:pPr lvl="1">
              <a:defRPr sz="1500">
                <a:solidFill>
                  <a:srgbClr val="CCCCCC"/>
                </a:solidFill>
              </a:defRPr>
            </a:pPr>
            <a:r>
              <a:t>Full API queries across all query types</a:t>
            </a:r>
          </a:p>
          <a:p>
            <a:pPr lvl="1">
              <a:defRPr sz="400">
                <a:solidFill>
                  <a:srgbClr val="CCCCCC"/>
                </a:solidFill>
              </a:defRPr>
            </a:pPr>
          </a:p>
          <a:p>
            <a:pPr>
              <a:defRPr sz="1800" b="1">
                <a:solidFill>
                  <a:srgbClr val="00D2FF"/>
                </a:solidFill>
              </a:defRPr>
            </a:pPr>
            <a:r>
              <a:t>All Datasets: 37 tests</a:t>
            </a:r>
          </a:p>
          <a:p>
            <a:pPr lvl="1">
              <a:defRPr sz="1500">
                <a:solidFill>
                  <a:srgbClr val="CCCCCC"/>
                </a:solidFill>
              </a:defRPr>
            </a:pPr>
            <a:r>
              <a:t>Smoke tests across all 16 datasets</a:t>
            </a:r>
          </a:p>
          <a:p>
            <a:pPr lvl="1">
              <a:defRPr sz="400">
                <a:solidFill>
                  <a:srgbClr val="CCCCCC"/>
                </a:solidFill>
              </a:defRPr>
            </a:pPr>
          </a:p>
          <a:p>
            <a:pPr>
              <a:defRPr sz="600">
                <a:solidFill>
                  <a:srgbClr val="CCCCCC"/>
                </a:solidFill>
              </a:defRPr>
            </a:pPr>
          </a:p>
          <a:p>
            <a:pPr>
              <a:defRPr sz="1800" b="1">
                <a:solidFill>
                  <a:srgbClr val="FF6B35"/>
                </a:solidFill>
              </a:defRPr>
            </a:pPr>
            <a:r>
              <a:t>Heuristic parser handles ~80% of common queries without any API key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All tests pass deterministically - LLM tests isolated behind FORCE_LLM_TESTS flag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</a:defRPr>
            </a:pPr>
            <a:r>
              <a:t>What We Can't Answer (Yet)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Static CSV snapshots - not live data feeds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No causal inference (correlation ≠ causation)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No population normalization (raw counts only)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2025 crime data is partial (33 records)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17% of crime records have Unknown neighborhood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Subjective questions declined ("safest", "best")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No multi-turn conversation (each query is independent)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English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</a:defRPr>
            </a:pPr>
            <a:r>
              <a:t>Future Directions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Live data integration via Syracuse API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Per-capita normalization using census data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Multi-turn conversation / follow-up questions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Temporal trend analysis with seasonal adjustment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More cross-dataset joins (permits + violations)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Embeddable widget for city website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Feedback-driven prompt refinement loop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Spanish language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Ask Syracuse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github.com/prathyusha1231/Ask-Syracuse-Data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Live Demo: http://127.0.0.1:8000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